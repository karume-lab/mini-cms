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48" r:id="rId3"/>
    <p:sldId id="353" r:id="rId4"/>
    <p:sldId id="360" r:id="rId5"/>
    <p:sldId id="362" r:id="rId6"/>
    <p:sldId id="365" r:id="rId7"/>
    <p:sldId id="366" r:id="rId8"/>
    <p:sldId id="369" r:id="rId9"/>
    <p:sldId id="3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D730"/>
    <a:srgbClr val="FFBF00"/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3CD2A9-3F4D-4F04-B5BA-FA4E4AD2C398}" v="9" dt="2023-12-04T04:28:34.6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494" autoAdjust="0"/>
  </p:normalViewPr>
  <p:slideViewPr>
    <p:cSldViewPr showGuides="1">
      <p:cViewPr varScale="1">
        <p:scale>
          <a:sx n="86" d="100"/>
          <a:sy n="86" d="100"/>
        </p:scale>
        <p:origin x="8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m Kuyah" userId="5f1f4b211a587380" providerId="LiveId" clId="{CB3CD2A9-3F4D-4F04-B5BA-FA4E4AD2C398}"/>
    <pc:docChg chg="undo redo custSel addSld delSld modSld">
      <pc:chgData name="Shem Kuyah" userId="5f1f4b211a587380" providerId="LiveId" clId="{CB3CD2A9-3F4D-4F04-B5BA-FA4E4AD2C398}" dt="2023-12-04T08:04:56.142" v="959" actId="948"/>
      <pc:docMkLst>
        <pc:docMk/>
      </pc:docMkLst>
      <pc:sldChg chg="del">
        <pc:chgData name="Shem Kuyah" userId="5f1f4b211a587380" providerId="LiveId" clId="{CB3CD2A9-3F4D-4F04-B5BA-FA4E4AD2C398}" dt="2023-12-03T08:15:29.521" v="413" actId="47"/>
        <pc:sldMkLst>
          <pc:docMk/>
          <pc:sldMk cId="3242034339" sldId="296"/>
        </pc:sldMkLst>
      </pc:sldChg>
      <pc:sldChg chg="del">
        <pc:chgData name="Shem Kuyah" userId="5f1f4b211a587380" providerId="LiveId" clId="{CB3CD2A9-3F4D-4F04-B5BA-FA4E4AD2C398}" dt="2023-12-03T08:15:49.915" v="414" actId="47"/>
        <pc:sldMkLst>
          <pc:docMk/>
          <pc:sldMk cId="1567103485" sldId="298"/>
        </pc:sldMkLst>
      </pc:sldChg>
      <pc:sldChg chg="del">
        <pc:chgData name="Shem Kuyah" userId="5f1f4b211a587380" providerId="LiveId" clId="{CB3CD2A9-3F4D-4F04-B5BA-FA4E4AD2C398}" dt="2023-12-03T08:22:49.598" v="449" actId="47"/>
        <pc:sldMkLst>
          <pc:docMk/>
          <pc:sldMk cId="2564606664" sldId="299"/>
        </pc:sldMkLst>
      </pc:sldChg>
      <pc:sldChg chg="del">
        <pc:chgData name="Shem Kuyah" userId="5f1f4b211a587380" providerId="LiveId" clId="{CB3CD2A9-3F4D-4F04-B5BA-FA4E4AD2C398}" dt="2023-12-03T08:22:33.113" v="448" actId="47"/>
        <pc:sldMkLst>
          <pc:docMk/>
          <pc:sldMk cId="2732850314" sldId="303"/>
        </pc:sldMkLst>
      </pc:sldChg>
      <pc:sldChg chg="del">
        <pc:chgData name="Shem Kuyah" userId="5f1f4b211a587380" providerId="LiveId" clId="{CB3CD2A9-3F4D-4F04-B5BA-FA4E4AD2C398}" dt="2023-12-03T07:55:49.282" v="1" actId="47"/>
        <pc:sldMkLst>
          <pc:docMk/>
          <pc:sldMk cId="1464289781" sldId="306"/>
        </pc:sldMkLst>
      </pc:sldChg>
      <pc:sldChg chg="del">
        <pc:chgData name="Shem Kuyah" userId="5f1f4b211a587380" providerId="LiveId" clId="{CB3CD2A9-3F4D-4F04-B5BA-FA4E4AD2C398}" dt="2023-12-03T07:50:41.469" v="0" actId="47"/>
        <pc:sldMkLst>
          <pc:docMk/>
          <pc:sldMk cId="469667945" sldId="307"/>
        </pc:sldMkLst>
      </pc:sldChg>
      <pc:sldChg chg="del">
        <pc:chgData name="Shem Kuyah" userId="5f1f4b211a587380" providerId="LiveId" clId="{CB3CD2A9-3F4D-4F04-B5BA-FA4E4AD2C398}" dt="2023-12-03T08:22:52.755" v="450" actId="47"/>
        <pc:sldMkLst>
          <pc:docMk/>
          <pc:sldMk cId="89791383" sldId="310"/>
        </pc:sldMkLst>
      </pc:sldChg>
      <pc:sldChg chg="del">
        <pc:chgData name="Shem Kuyah" userId="5f1f4b211a587380" providerId="LiveId" clId="{CB3CD2A9-3F4D-4F04-B5BA-FA4E4AD2C398}" dt="2023-12-03T08:39:20.867" v="559" actId="47"/>
        <pc:sldMkLst>
          <pc:docMk/>
          <pc:sldMk cId="539487508" sldId="311"/>
        </pc:sldMkLst>
      </pc:sldChg>
      <pc:sldChg chg="del">
        <pc:chgData name="Shem Kuyah" userId="5f1f4b211a587380" providerId="LiveId" clId="{CB3CD2A9-3F4D-4F04-B5BA-FA4E4AD2C398}" dt="2023-12-03T08:39:26.268" v="560" actId="47"/>
        <pc:sldMkLst>
          <pc:docMk/>
          <pc:sldMk cId="3567353365" sldId="312"/>
        </pc:sldMkLst>
      </pc:sldChg>
      <pc:sldChg chg="del">
        <pc:chgData name="Shem Kuyah" userId="5f1f4b211a587380" providerId="LiveId" clId="{CB3CD2A9-3F4D-4F04-B5BA-FA4E4AD2C398}" dt="2023-12-03T08:22:54.877" v="451" actId="47"/>
        <pc:sldMkLst>
          <pc:docMk/>
          <pc:sldMk cId="4049678339" sldId="347"/>
        </pc:sldMkLst>
      </pc:sldChg>
      <pc:sldChg chg="modSp mod">
        <pc:chgData name="Shem Kuyah" userId="5f1f4b211a587380" providerId="LiveId" clId="{CB3CD2A9-3F4D-4F04-B5BA-FA4E4AD2C398}" dt="2023-12-03T09:19:03.932" v="564" actId="20577"/>
        <pc:sldMkLst>
          <pc:docMk/>
          <pc:sldMk cId="2084674865" sldId="348"/>
        </pc:sldMkLst>
        <pc:spChg chg="mod">
          <ac:chgData name="Shem Kuyah" userId="5f1f4b211a587380" providerId="LiveId" clId="{CB3CD2A9-3F4D-4F04-B5BA-FA4E4AD2C398}" dt="2023-12-03T09:19:03.932" v="564" actId="20577"/>
          <ac:spMkLst>
            <pc:docMk/>
            <pc:sldMk cId="2084674865" sldId="348"/>
            <ac:spMk id="16" creationId="{00000000-0000-0000-0000-000000000000}"/>
          </ac:spMkLst>
        </pc:spChg>
      </pc:sldChg>
      <pc:sldChg chg="del">
        <pc:chgData name="Shem Kuyah" userId="5f1f4b211a587380" providerId="LiveId" clId="{CB3CD2A9-3F4D-4F04-B5BA-FA4E4AD2C398}" dt="2023-12-03T08:39:28.824" v="561" actId="47"/>
        <pc:sldMkLst>
          <pc:docMk/>
          <pc:sldMk cId="2884938486" sldId="350"/>
        </pc:sldMkLst>
      </pc:sldChg>
      <pc:sldChg chg="del">
        <pc:chgData name="Shem Kuyah" userId="5f1f4b211a587380" providerId="LiveId" clId="{CB3CD2A9-3F4D-4F04-B5BA-FA4E4AD2C398}" dt="2023-12-03T08:14:54.137" v="412" actId="47"/>
        <pc:sldMkLst>
          <pc:docMk/>
          <pc:sldMk cId="1992545177" sldId="354"/>
        </pc:sldMkLst>
      </pc:sldChg>
      <pc:sldChg chg="del">
        <pc:chgData name="Shem Kuyah" userId="5f1f4b211a587380" providerId="LiveId" clId="{CB3CD2A9-3F4D-4F04-B5BA-FA4E4AD2C398}" dt="2023-12-03T08:39:32.268" v="562" actId="47"/>
        <pc:sldMkLst>
          <pc:docMk/>
          <pc:sldMk cId="2236264776" sldId="361"/>
        </pc:sldMkLst>
      </pc:sldChg>
      <pc:sldChg chg="modSp mod">
        <pc:chgData name="Shem Kuyah" userId="5f1f4b211a587380" providerId="LiveId" clId="{CB3CD2A9-3F4D-4F04-B5BA-FA4E4AD2C398}" dt="2023-12-04T04:32:20.699" v="779" actId="20577"/>
        <pc:sldMkLst>
          <pc:docMk/>
          <pc:sldMk cId="661693858" sldId="365"/>
        </pc:sldMkLst>
        <pc:spChg chg="mod">
          <ac:chgData name="Shem Kuyah" userId="5f1f4b211a587380" providerId="LiveId" clId="{CB3CD2A9-3F4D-4F04-B5BA-FA4E4AD2C398}" dt="2023-12-04T04:32:20.699" v="779" actId="20577"/>
          <ac:spMkLst>
            <pc:docMk/>
            <pc:sldMk cId="661693858" sldId="365"/>
            <ac:spMk id="16" creationId="{00000000-0000-0000-0000-000000000000}"/>
          </ac:spMkLst>
        </pc:spChg>
        <pc:cxnChg chg="mod">
          <ac:chgData name="Shem Kuyah" userId="5f1f4b211a587380" providerId="LiveId" clId="{CB3CD2A9-3F4D-4F04-B5BA-FA4E4AD2C398}" dt="2023-12-04T04:30:05.734" v="692" actId="1036"/>
          <ac:cxnSpMkLst>
            <pc:docMk/>
            <pc:sldMk cId="661693858" sldId="365"/>
            <ac:cxnSpMk id="21" creationId="{00000000-0000-0000-0000-000000000000}"/>
          </ac:cxnSpMkLst>
        </pc:cxnChg>
        <pc:cxnChg chg="mod">
          <ac:chgData name="Shem Kuyah" userId="5f1f4b211a587380" providerId="LiveId" clId="{CB3CD2A9-3F4D-4F04-B5BA-FA4E4AD2C398}" dt="2023-12-04T04:30:05.734" v="692" actId="1036"/>
          <ac:cxnSpMkLst>
            <pc:docMk/>
            <pc:sldMk cId="661693858" sldId="365"/>
            <ac:cxnSpMk id="22" creationId="{00000000-0000-0000-0000-000000000000}"/>
          </ac:cxnSpMkLst>
        </pc:cxnChg>
      </pc:sldChg>
      <pc:sldChg chg="addSp delSp modSp mod modAnim">
        <pc:chgData name="Shem Kuyah" userId="5f1f4b211a587380" providerId="LiveId" clId="{CB3CD2A9-3F4D-4F04-B5BA-FA4E4AD2C398}" dt="2023-12-03T08:20:27.889" v="447"/>
        <pc:sldMkLst>
          <pc:docMk/>
          <pc:sldMk cId="2392644466" sldId="366"/>
        </pc:sldMkLst>
        <pc:spChg chg="del">
          <ac:chgData name="Shem Kuyah" userId="5f1f4b211a587380" providerId="LiveId" clId="{CB3CD2A9-3F4D-4F04-B5BA-FA4E4AD2C398}" dt="2023-12-03T07:56:21.181" v="2" actId="21"/>
          <ac:spMkLst>
            <pc:docMk/>
            <pc:sldMk cId="2392644466" sldId="366"/>
            <ac:spMk id="3" creationId="{727E3136-87C3-DBAB-08BB-3E1E6368A954}"/>
          </ac:spMkLst>
        </pc:spChg>
        <pc:spChg chg="add mod">
          <ac:chgData name="Shem Kuyah" userId="5f1f4b211a587380" providerId="LiveId" clId="{CB3CD2A9-3F4D-4F04-B5BA-FA4E4AD2C398}" dt="2023-12-03T08:12:31.766" v="395" actId="948"/>
          <ac:spMkLst>
            <pc:docMk/>
            <pc:sldMk cId="2392644466" sldId="366"/>
            <ac:spMk id="4" creationId="{28552383-516E-7AF7-9D06-25D0BE261E6E}"/>
          </ac:spMkLst>
        </pc:spChg>
        <pc:spChg chg="add mod">
          <ac:chgData name="Shem Kuyah" userId="5f1f4b211a587380" providerId="LiveId" clId="{CB3CD2A9-3F4D-4F04-B5BA-FA4E4AD2C398}" dt="2023-12-03T08:19:35.854" v="444" actId="164"/>
          <ac:spMkLst>
            <pc:docMk/>
            <pc:sldMk cId="2392644466" sldId="366"/>
            <ac:spMk id="5" creationId="{52E75D93-48E9-9795-A68F-131A2EF68D70}"/>
          </ac:spMkLst>
        </pc:spChg>
        <pc:spChg chg="add mod">
          <ac:chgData name="Shem Kuyah" userId="5f1f4b211a587380" providerId="LiveId" clId="{CB3CD2A9-3F4D-4F04-B5BA-FA4E4AD2C398}" dt="2023-12-03T08:19:35.854" v="444" actId="164"/>
          <ac:spMkLst>
            <pc:docMk/>
            <pc:sldMk cId="2392644466" sldId="366"/>
            <ac:spMk id="6" creationId="{747B369B-DD12-7408-21CF-CBEADEF80697}"/>
          </ac:spMkLst>
        </pc:spChg>
        <pc:spChg chg="add mod">
          <ac:chgData name="Shem Kuyah" userId="5f1f4b211a587380" providerId="LiveId" clId="{CB3CD2A9-3F4D-4F04-B5BA-FA4E4AD2C398}" dt="2023-12-03T08:19:35.854" v="444" actId="164"/>
          <ac:spMkLst>
            <pc:docMk/>
            <pc:sldMk cId="2392644466" sldId="366"/>
            <ac:spMk id="7" creationId="{C9D483B5-442E-3BC3-269C-50C28CCBE131}"/>
          </ac:spMkLst>
        </pc:spChg>
        <pc:spChg chg="mod">
          <ac:chgData name="Shem Kuyah" userId="5f1f4b211a587380" providerId="LiveId" clId="{CB3CD2A9-3F4D-4F04-B5BA-FA4E4AD2C398}" dt="2023-12-03T08:07:56.578" v="287" actId="6549"/>
          <ac:spMkLst>
            <pc:docMk/>
            <pc:sldMk cId="2392644466" sldId="366"/>
            <ac:spMk id="16" creationId="{00000000-0000-0000-0000-000000000000}"/>
          </ac:spMkLst>
        </pc:spChg>
        <pc:grpChg chg="add mod">
          <ac:chgData name="Shem Kuyah" userId="5f1f4b211a587380" providerId="LiveId" clId="{CB3CD2A9-3F4D-4F04-B5BA-FA4E4AD2C398}" dt="2023-12-03T08:19:45.372" v="445" actId="1076"/>
          <ac:grpSpMkLst>
            <pc:docMk/>
            <pc:sldMk cId="2392644466" sldId="366"/>
            <ac:grpSpMk id="8" creationId="{9F20961F-F36B-AC0F-F88D-C05513E2A3BF}"/>
          </ac:grpSpMkLst>
        </pc:grpChg>
      </pc:sldChg>
      <pc:sldChg chg="addSp delSp modSp add mod modNotesTx">
        <pc:chgData name="Shem Kuyah" userId="5f1f4b211a587380" providerId="LiveId" clId="{CB3CD2A9-3F4D-4F04-B5BA-FA4E4AD2C398}" dt="2023-12-04T08:04:56.142" v="959" actId="948"/>
        <pc:sldMkLst>
          <pc:docMk/>
          <pc:sldMk cId="3657296426" sldId="369"/>
        </pc:sldMkLst>
        <pc:spChg chg="mod">
          <ac:chgData name="Shem Kuyah" userId="5f1f4b211a587380" providerId="LiveId" clId="{CB3CD2A9-3F4D-4F04-B5BA-FA4E4AD2C398}" dt="2023-12-04T04:35:06.774" v="794"/>
          <ac:spMkLst>
            <pc:docMk/>
            <pc:sldMk cId="3657296426" sldId="369"/>
            <ac:spMk id="2" creationId="{00000000-0000-0000-0000-000000000000}"/>
          </ac:spMkLst>
        </pc:spChg>
        <pc:spChg chg="add del mod">
          <ac:chgData name="Shem Kuyah" userId="5f1f4b211a587380" providerId="LiveId" clId="{CB3CD2A9-3F4D-4F04-B5BA-FA4E4AD2C398}" dt="2023-12-03T07:56:51.064" v="7" actId="478"/>
          <ac:spMkLst>
            <pc:docMk/>
            <pc:sldMk cId="3657296426" sldId="369"/>
            <ac:spMk id="3" creationId="{66CB1CA7-2A29-4677-1D98-F1B8E2BC87C1}"/>
          </ac:spMkLst>
        </pc:spChg>
        <pc:spChg chg="add del mod">
          <ac:chgData name="Shem Kuyah" userId="5f1f4b211a587380" providerId="LiveId" clId="{CB3CD2A9-3F4D-4F04-B5BA-FA4E4AD2C398}" dt="2023-12-03T08:34:45.550" v="454" actId="478"/>
          <ac:spMkLst>
            <pc:docMk/>
            <pc:sldMk cId="3657296426" sldId="369"/>
            <ac:spMk id="4" creationId="{93B24042-D90C-A88D-01E0-5523EE064D54}"/>
          </ac:spMkLst>
        </pc:spChg>
        <pc:spChg chg="add del mod">
          <ac:chgData name="Shem Kuyah" userId="5f1f4b211a587380" providerId="LiveId" clId="{CB3CD2A9-3F4D-4F04-B5BA-FA4E4AD2C398}" dt="2023-12-03T08:12:46.271" v="397" actId="478"/>
          <ac:spMkLst>
            <pc:docMk/>
            <pc:sldMk cId="3657296426" sldId="369"/>
            <ac:spMk id="7" creationId="{8E01D313-20EC-334B-B479-B856ACBF39B5}"/>
          </ac:spMkLst>
        </pc:spChg>
        <pc:spChg chg="add del mod">
          <ac:chgData name="Shem Kuyah" userId="5f1f4b211a587380" providerId="LiveId" clId="{CB3CD2A9-3F4D-4F04-B5BA-FA4E4AD2C398}" dt="2023-12-04T04:33:22.808" v="780" actId="478"/>
          <ac:spMkLst>
            <pc:docMk/>
            <pc:sldMk cId="3657296426" sldId="369"/>
            <ac:spMk id="9" creationId="{D79C4FE4-091F-F06B-73B5-90BCEB74B216}"/>
          </ac:spMkLst>
        </pc:spChg>
        <pc:spChg chg="mod">
          <ac:chgData name="Shem Kuyah" userId="5f1f4b211a587380" providerId="LiveId" clId="{CB3CD2A9-3F4D-4F04-B5BA-FA4E4AD2C398}" dt="2023-12-04T08:04:56.142" v="959" actId="948"/>
          <ac:spMkLst>
            <pc:docMk/>
            <pc:sldMk cId="3657296426" sldId="369"/>
            <ac:spMk id="16" creationId="{00000000-0000-0000-0000-000000000000}"/>
          </ac:spMkLst>
        </pc:spChg>
        <pc:cxnChg chg="add del mod">
          <ac:chgData name="Shem Kuyah" userId="5f1f4b211a587380" providerId="LiveId" clId="{CB3CD2A9-3F4D-4F04-B5BA-FA4E4AD2C398}" dt="2023-12-03T08:12:53.484" v="401" actId="478"/>
          <ac:cxnSpMkLst>
            <pc:docMk/>
            <pc:sldMk cId="3657296426" sldId="369"/>
            <ac:cxnSpMk id="6" creationId="{62A78F73-23FE-701D-B3C8-C3B21B62B31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4E7BDD-69F2-4576-9694-E36B260A9ADC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B3194-A29C-4066-AC3D-4A5D10404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51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B3194-A29C-4066-AC3D-4A5D10404B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64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0663" inden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20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1B3194-A29C-4066-AC3D-4A5D10404B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99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0663" marR="0" lvl="0" indent="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20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1B3194-A29C-4066-AC3D-4A5D10404B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62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0663" marR="0" lvl="0" indent="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20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1B3194-A29C-4066-AC3D-4A5D10404B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35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1B3194-A29C-4066-AC3D-4A5D10404B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70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1B3194-A29C-4066-AC3D-4A5D10404B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68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1B3194-A29C-4066-AC3D-4A5D10404B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358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1B3194-A29C-4066-AC3D-4A5D10404B6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92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1B3194-A29C-4066-AC3D-4A5D10404B6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0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C4CB-446F-4881-8A81-08AAD5556BAD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74C2-2251-4C6F-8A3C-D99F79017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403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C4CB-446F-4881-8A81-08AAD5556BAD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74C2-2251-4C6F-8A3C-D99F79017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1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C4CB-446F-4881-8A81-08AAD5556BAD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74C2-2251-4C6F-8A3C-D99F79017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91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C4CB-446F-4881-8A81-08AAD5556BAD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74C2-2251-4C6F-8A3C-D99F79017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63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C4CB-446F-4881-8A81-08AAD5556BAD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74C2-2251-4C6F-8A3C-D99F79017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0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C4CB-446F-4881-8A81-08AAD5556BAD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74C2-2251-4C6F-8A3C-D99F79017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2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C4CB-446F-4881-8A81-08AAD5556BAD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74C2-2251-4C6F-8A3C-D99F79017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52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C4CB-446F-4881-8A81-08AAD5556BAD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74C2-2251-4C6F-8A3C-D99F79017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83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C4CB-446F-4881-8A81-08AAD5556BAD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74C2-2251-4C6F-8A3C-D99F79017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7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C4CB-446F-4881-8A81-08AAD5556BAD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74C2-2251-4C6F-8A3C-D99F79017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84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C4CB-446F-4881-8A81-08AAD5556BAD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74C2-2251-4C6F-8A3C-D99F79017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44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1C4CB-446F-4881-8A81-08AAD5556BAD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674C2-2251-4C6F-8A3C-D99F79017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2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kshem@jkuat.ac.k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mailto:Director.research@jkuat.ac.k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666750"/>
            <a:ext cx="8229600" cy="1924050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Communicating research results</a:t>
            </a:r>
            <a:endParaRPr lang="en-US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2468" y="2851461"/>
            <a:ext cx="3657600" cy="577539"/>
          </a:xfrm>
        </p:spPr>
        <p:txBody>
          <a:bodyPr>
            <a:no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sz="35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Shem Kuyah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38400" y="5105400"/>
            <a:ext cx="7315200" cy="0"/>
          </a:xfrm>
          <a:prstGeom prst="line">
            <a:avLst/>
          </a:prstGeom>
          <a:ln>
            <a:solidFill>
              <a:srgbClr val="BED73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438400" y="2514600"/>
            <a:ext cx="7315200" cy="0"/>
          </a:xfrm>
          <a:prstGeom prst="line">
            <a:avLst/>
          </a:prstGeom>
          <a:ln>
            <a:solidFill>
              <a:srgbClr val="BED73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524000" y="6477000"/>
            <a:ext cx="91440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524000" y="6553200"/>
            <a:ext cx="91440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24000" y="0"/>
            <a:ext cx="9144000" cy="720000"/>
          </a:xfrm>
          <a:prstGeom prst="rect">
            <a:avLst/>
          </a:prstGeom>
          <a:solidFill>
            <a:srgbClr val="BED730"/>
          </a:solidFill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4411BF-0783-418C-848F-466D8E6F641D}"/>
              </a:ext>
            </a:extLst>
          </p:cNvPr>
          <p:cNvSpPr txBox="1"/>
          <p:nvPr/>
        </p:nvSpPr>
        <p:spPr>
          <a:xfrm>
            <a:off x="2590800" y="3505201"/>
            <a:ext cx="7148732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dirty="0" smtClean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Head of </a:t>
            </a:r>
            <a:r>
              <a:rPr lang="en-US" sz="2500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Research and Innovations,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Jomo Kenyatta University of Agriculture and Technology (JKUAT)</a:t>
            </a:r>
            <a:endParaRPr lang="x-none" sz="2500" dirty="0">
              <a:solidFill>
                <a:srgbClr val="0000F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4C76F104-C073-47FA-983D-BB844C4920A7}"/>
              </a:ext>
            </a:extLst>
          </p:cNvPr>
          <p:cNvSpPr txBox="1"/>
          <p:nvPr/>
        </p:nvSpPr>
        <p:spPr>
          <a:xfrm>
            <a:off x="2590800" y="6019800"/>
            <a:ext cx="807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dirty="0" smtClean="0">
                <a:latin typeface="Trebuchet MS" panose="020B0603020202020204" pitchFamily="34" charset="0"/>
              </a:rPr>
              <a:t>DGM - COHRED </a:t>
            </a:r>
            <a:r>
              <a:rPr lang="en-US" sz="2000" dirty="0">
                <a:latin typeface="Trebuchet MS" panose="020B0603020202020204" pitchFamily="34" charset="0"/>
              </a:rPr>
              <a:t>Sensitization </a:t>
            </a:r>
            <a:r>
              <a:rPr lang="en-US" sz="2000" dirty="0" smtClean="0">
                <a:latin typeface="Trebuchet MS" panose="020B0603020202020204" pitchFamily="34" charset="0"/>
              </a:rPr>
              <a:t>Workshop. Assembly Hall. </a:t>
            </a:r>
            <a:r>
              <a:rPr lang="en-US" sz="2000" dirty="0"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24 April </a:t>
            </a:r>
            <a:r>
              <a:rPr lang="en-US" sz="2000" dirty="0" smtClean="0"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2024</a:t>
            </a:r>
            <a:endParaRPr lang="x-none" sz="20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979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123029"/>
          </a:xfrm>
          <a:solidFill>
            <a:srgbClr val="BED730"/>
          </a:solidFill>
        </p:spPr>
        <p:txBody>
          <a:bodyPr>
            <a:noAutofit/>
          </a:bodyPr>
          <a:lstStyle/>
          <a:p>
            <a:pPr marL="365125" algn="l"/>
            <a:r>
              <a:rPr lang="en-US" sz="5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Scientific communication 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09600" y="1135989"/>
            <a:ext cx="10980000" cy="17390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Aims to bridge the gap between scientists and the public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Is primarily achieved through writing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Why do we write?</a:t>
            </a:r>
          </a:p>
        </p:txBody>
      </p: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609600" y="6553200"/>
            <a:ext cx="109800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cxnSpLocks/>
          </p:cNvCxnSpPr>
          <p:nvPr/>
        </p:nvCxnSpPr>
        <p:spPr>
          <a:xfrm>
            <a:off x="609600" y="6629400"/>
            <a:ext cx="1098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4AB645CB-B1A5-0C2B-6B1E-F6AD58DB936F}"/>
              </a:ext>
            </a:extLst>
          </p:cNvPr>
          <p:cNvGrpSpPr/>
          <p:nvPr/>
        </p:nvGrpSpPr>
        <p:grpSpPr>
          <a:xfrm>
            <a:off x="905356" y="2881314"/>
            <a:ext cx="1488648" cy="2147886"/>
            <a:chOff x="965757" y="3327320"/>
            <a:chExt cx="1488648" cy="214788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xmlns="" id="{994622E6-900E-1AF3-E6FA-F420AECAA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5757" y="3327320"/>
              <a:ext cx="1488648" cy="14400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65A37CC9-404A-2F2D-4BFE-EB580245F0A5}"/>
                </a:ext>
              </a:extLst>
            </p:cNvPr>
            <p:cNvSpPr txBox="1"/>
            <p:nvPr/>
          </p:nvSpPr>
          <p:spPr>
            <a:xfrm>
              <a:off x="965757" y="4767320"/>
              <a:ext cx="14400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ani" panose="020B0502040204020203" pitchFamily="18" charset="0"/>
                </a:rPr>
                <a:t>To be read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CB709C7D-7480-A068-9913-ED99D1995986}"/>
              </a:ext>
            </a:extLst>
          </p:cNvPr>
          <p:cNvGrpSpPr/>
          <p:nvPr/>
        </p:nvGrpSpPr>
        <p:grpSpPr>
          <a:xfrm>
            <a:off x="2609926" y="2881314"/>
            <a:ext cx="1657274" cy="2147886"/>
            <a:chOff x="3219526" y="3327320"/>
            <a:chExt cx="1657274" cy="214788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7F89B1CF-B2A8-EF7C-5CE3-838A8C5B5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19526" y="3327320"/>
              <a:ext cx="1440000" cy="1440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51548229-FBDA-6F4F-EFF0-64DB9CE90013}"/>
                </a:ext>
              </a:extLst>
            </p:cNvPr>
            <p:cNvSpPr txBox="1"/>
            <p:nvPr/>
          </p:nvSpPr>
          <p:spPr>
            <a:xfrm>
              <a:off x="3219526" y="4767320"/>
              <a:ext cx="165727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ani" panose="020B0502040204020203" pitchFamily="18" charset="0"/>
                </a:rPr>
                <a:t>To be understood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6292697C-9D91-0380-1983-9BC0CE84D191}"/>
              </a:ext>
            </a:extLst>
          </p:cNvPr>
          <p:cNvGrpSpPr/>
          <p:nvPr/>
        </p:nvGrpSpPr>
        <p:grpSpPr>
          <a:xfrm>
            <a:off x="4628562" y="2881314"/>
            <a:ext cx="1957696" cy="2147886"/>
            <a:chOff x="5484504" y="3422467"/>
            <a:chExt cx="1957696" cy="214788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xmlns="" id="{2CE26CBA-5411-FAC5-1F26-402F38199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4504" y="3422467"/>
              <a:ext cx="1751352" cy="1440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F249FF5B-98C5-B944-3E4D-0136E96EA521}"/>
                </a:ext>
              </a:extLst>
            </p:cNvPr>
            <p:cNvSpPr txBox="1"/>
            <p:nvPr/>
          </p:nvSpPr>
          <p:spPr>
            <a:xfrm>
              <a:off x="5559676" y="4862467"/>
              <a:ext cx="188252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ani" panose="020B0502040204020203" pitchFamily="18" charset="0"/>
                </a:rPr>
                <a:t>To be followed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9D3F208B-BB7B-3088-7853-5476A11B9804}"/>
              </a:ext>
            </a:extLst>
          </p:cNvPr>
          <p:cNvGrpSpPr/>
          <p:nvPr/>
        </p:nvGrpSpPr>
        <p:grpSpPr>
          <a:xfrm>
            <a:off x="6826881" y="2880750"/>
            <a:ext cx="1478919" cy="2148450"/>
            <a:chOff x="7244822" y="3696652"/>
            <a:chExt cx="1478919" cy="214845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6006A3E-78BB-E193-E099-AE3956AB4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44822" y="3696652"/>
              <a:ext cx="1478919" cy="14400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CA3DB75A-7AD1-7099-20EF-7F5C17484470}"/>
                </a:ext>
              </a:extLst>
            </p:cNvPr>
            <p:cNvSpPr txBox="1"/>
            <p:nvPr/>
          </p:nvSpPr>
          <p:spPr>
            <a:xfrm>
              <a:off x="7283741" y="5137216"/>
              <a:ext cx="14400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ani" panose="020B0502040204020203" pitchFamily="18" charset="0"/>
                </a:rPr>
                <a:t>To be cited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18611B19-7A67-C800-5431-526B48144CAF}"/>
              </a:ext>
            </a:extLst>
          </p:cNvPr>
          <p:cNvGrpSpPr/>
          <p:nvPr/>
        </p:nvGrpSpPr>
        <p:grpSpPr>
          <a:xfrm>
            <a:off x="9296400" y="2867216"/>
            <a:ext cx="1468433" cy="2161984"/>
            <a:chOff x="10150792" y="3599568"/>
            <a:chExt cx="1468433" cy="216198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278BD935-E8E1-7FDB-010A-F45C1B07B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50792" y="3599568"/>
              <a:ext cx="1440000" cy="1440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4A5F4A52-D64E-5D60-18ED-9BA3BAC748A6}"/>
                </a:ext>
              </a:extLst>
            </p:cNvPr>
            <p:cNvSpPr txBox="1"/>
            <p:nvPr/>
          </p:nvSpPr>
          <p:spPr>
            <a:xfrm>
              <a:off x="10179225" y="5053666"/>
              <a:ext cx="14400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ani" panose="020B0502040204020203" pitchFamily="18" charset="0"/>
                </a:rPr>
                <a:t>To influence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D1DAF1D9-C4DC-EAAA-BE06-2570AA164EFC}"/>
              </a:ext>
            </a:extLst>
          </p:cNvPr>
          <p:cNvSpPr txBox="1"/>
          <p:nvPr/>
        </p:nvSpPr>
        <p:spPr>
          <a:xfrm>
            <a:off x="905357" y="5372100"/>
            <a:ext cx="3240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Create awareness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E7D8BE77-24BD-6F59-ED85-03B2B5281EA4}"/>
              </a:ext>
            </a:extLst>
          </p:cNvPr>
          <p:cNvSpPr txBox="1"/>
          <p:nvPr/>
        </p:nvSpPr>
        <p:spPr>
          <a:xfrm>
            <a:off x="4700240" y="5372100"/>
            <a:ext cx="3240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Raise interest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E6BDA7F5-1056-C3D3-8D1A-C7F1136AD06A}"/>
              </a:ext>
            </a:extLst>
          </p:cNvPr>
          <p:cNvGrpSpPr/>
          <p:nvPr/>
        </p:nvGrpSpPr>
        <p:grpSpPr>
          <a:xfrm>
            <a:off x="8534400" y="5105400"/>
            <a:ext cx="3240000" cy="965400"/>
            <a:chOff x="8839200" y="5105400"/>
            <a:chExt cx="3240000" cy="96540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35E975F2-5C31-6797-A28C-C1B149C3BFED}"/>
                </a:ext>
              </a:extLst>
            </p:cNvPr>
            <p:cNvSpPr txBox="1"/>
            <p:nvPr/>
          </p:nvSpPr>
          <p:spPr>
            <a:xfrm>
              <a:off x="8839200" y="5105400"/>
              <a:ext cx="3240000" cy="432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Attitudes and practices</a:t>
              </a: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A0516131-E982-864F-0F2B-817E7B385A02}"/>
                </a:ext>
              </a:extLst>
            </p:cNvPr>
            <p:cNvSpPr txBox="1"/>
            <p:nvPr/>
          </p:nvSpPr>
          <p:spPr>
            <a:xfrm>
              <a:off x="8839200" y="5638800"/>
              <a:ext cx="3240000" cy="432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Inform policy</a:t>
              </a: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4674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123029"/>
          </a:xfrm>
          <a:solidFill>
            <a:srgbClr val="BED730"/>
          </a:solidFill>
        </p:spPr>
        <p:txBody>
          <a:bodyPr>
            <a:noAutofit/>
          </a:bodyPr>
          <a:lstStyle/>
          <a:p>
            <a:pPr marL="365125" algn="l"/>
            <a:r>
              <a:rPr lang="en-US" sz="5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How to realize impact </a:t>
            </a:r>
          </a:p>
        </p:txBody>
      </p: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609600" y="6553200"/>
            <a:ext cx="109800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cxnSpLocks/>
          </p:cNvCxnSpPr>
          <p:nvPr/>
        </p:nvCxnSpPr>
        <p:spPr>
          <a:xfrm>
            <a:off x="609600" y="6629400"/>
            <a:ext cx="1098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" name="Content Placeholder 2"/>
          <p:cNvSpPr txBox="1">
            <a:spLocks/>
          </p:cNvSpPr>
          <p:nvPr/>
        </p:nvSpPr>
        <p:spPr>
          <a:xfrm>
            <a:off x="495300" y="1295400"/>
            <a:ext cx="4305300" cy="16072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The story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Ways to transport ideas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1E9138FB-EC03-FFFA-04C5-0E80DAA18C63}"/>
              </a:ext>
            </a:extLst>
          </p:cNvPr>
          <p:cNvGrpSpPr/>
          <p:nvPr/>
        </p:nvGrpSpPr>
        <p:grpSpPr>
          <a:xfrm>
            <a:off x="305534" y="1364590"/>
            <a:ext cx="11195318" cy="4948342"/>
            <a:chOff x="305534" y="1364590"/>
            <a:chExt cx="11195318" cy="4948342"/>
          </a:xfrm>
        </p:grpSpPr>
        <p:sp>
          <p:nvSpPr>
            <p:cNvPr id="63" name="Content Placeholder 2">
              <a:extLst>
                <a:ext uri="{FF2B5EF4-FFF2-40B4-BE49-F238E27FC236}">
                  <a16:creationId xmlns:a16="http://schemas.microsoft.com/office/drawing/2014/main" xmlns="" id="{F16BA326-2442-30A5-DF8E-1C8E8850B8C9}"/>
                </a:ext>
              </a:extLst>
            </p:cNvPr>
            <p:cNvSpPr txBox="1">
              <a:spLocks/>
            </p:cNvSpPr>
            <p:nvPr/>
          </p:nvSpPr>
          <p:spPr>
            <a:xfrm>
              <a:off x="766180" y="5119732"/>
              <a:ext cx="3240000" cy="5760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spcBef>
                  <a:spcPts val="600"/>
                </a:spcBef>
                <a:buNone/>
              </a:pPr>
              <a:r>
                <a:rPr lang="en-US" sz="2500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What is the story?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xmlns="" id="{124EA0C8-E193-CE16-FC38-6EF799E92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52988" y="2599732"/>
              <a:ext cx="3359999" cy="2520000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xmlns="" id="{DCCA0E9D-A22C-6CD3-63DD-E235ADA00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40852" y="2599732"/>
              <a:ext cx="3360000" cy="2520000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4499E895-D3F9-7E05-E7BA-5A5B05CB1E55}"/>
                </a:ext>
              </a:extLst>
            </p:cNvPr>
            <p:cNvGrpSpPr/>
            <p:nvPr/>
          </p:nvGrpSpPr>
          <p:grpSpPr>
            <a:xfrm>
              <a:off x="305534" y="1364590"/>
              <a:ext cx="3885465" cy="1607210"/>
              <a:chOff x="-2574073" y="2716105"/>
              <a:chExt cx="3885465" cy="1607210"/>
            </a:xfrm>
          </p:grpSpPr>
          <p:sp>
            <p:nvSpPr>
              <p:cNvPr id="58" name="Content Placeholder 2">
                <a:extLst>
                  <a:ext uri="{FF2B5EF4-FFF2-40B4-BE49-F238E27FC236}">
                    <a16:creationId xmlns:a16="http://schemas.microsoft.com/office/drawing/2014/main" xmlns="" id="{A63FCF42-5482-D1A3-49F0-D8C70EA3EE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2574073" y="2723115"/>
                <a:ext cx="3885465" cy="15310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:r>
                  <a:rPr lang="en-US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rPr>
                  <a:t>The story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:r>
                  <a:rPr lang="en-US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rPr>
                  <a:t>Ways to transport ideas</a:t>
                </a:r>
              </a:p>
            </p:txBody>
          </p:sp>
          <p:sp>
            <p:nvSpPr>
              <p:cNvPr id="60" name="Content Placeholder 2">
                <a:extLst>
                  <a:ext uri="{FF2B5EF4-FFF2-40B4-BE49-F238E27FC236}">
                    <a16:creationId xmlns:a16="http://schemas.microsoft.com/office/drawing/2014/main" xmlns="" id="{D2235423-794A-8B27-3F6C-5C6782A90C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2346207" y="2716105"/>
                <a:ext cx="3200400" cy="160721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:r>
                  <a:rPr lang="en-US" sz="2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rPr>
                  <a:t>The story</a:t>
                </a:r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xmlns="" id="{7C44E7E8-7A4C-C5C6-3D3A-41A51F452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6180" y="2599732"/>
              <a:ext cx="3570588" cy="2520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81F822F4-3651-464E-69E0-E8C7B6DF75BE}"/>
                </a:ext>
              </a:extLst>
            </p:cNvPr>
            <p:cNvSpPr txBox="1"/>
            <p:nvPr/>
          </p:nvSpPr>
          <p:spPr>
            <a:xfrm>
              <a:off x="637036" y="5943600"/>
              <a:ext cx="36997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aseline="0" dirty="0">
                  <a:latin typeface="Arial" panose="020B0604020202020204" pitchFamily="34" charset="0"/>
                  <a:cs typeface="Arial" panose="020B0604020202020204" pitchFamily="34" charset="0"/>
                </a:rPr>
                <a:t>Images: </a:t>
              </a:r>
              <a:r>
                <a:rPr lang="en-US" sz="1800" baseline="0" dirty="0" err="1">
                  <a:latin typeface="Arial" panose="020B0604020202020204" pitchFamily="34" charset="0"/>
                  <a:cs typeface="Arial" panose="020B0604020202020204" pitchFamily="34" charset="0"/>
                </a:rPr>
                <a:t>Meine</a:t>
              </a:r>
              <a:r>
                <a:rPr lang="en-US" sz="1800" baseline="0" dirty="0">
                  <a:latin typeface="Arial" panose="020B0604020202020204" pitchFamily="34" charset="0"/>
                  <a:cs typeface="Arial" panose="020B0604020202020204" pitchFamily="34" charset="0"/>
                </a:rPr>
                <a:t> van </a:t>
              </a:r>
              <a:r>
                <a:rPr lang="en-US" sz="1800" baseline="0" dirty="0" err="1">
                  <a:latin typeface="Arial" panose="020B0604020202020204" pitchFamily="34" charset="0"/>
                  <a:cs typeface="Arial" panose="020B0604020202020204" pitchFamily="34" charset="0"/>
                </a:rPr>
                <a:t>Noordwijk</a:t>
              </a:r>
              <a:endParaRPr lang="en-US" dirty="0"/>
            </a:p>
          </p:txBody>
        </p:sp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xmlns="" id="{6BC716A1-7A92-4DF7-F9D1-1E86C89BDE70}"/>
                </a:ext>
              </a:extLst>
            </p:cNvPr>
            <p:cNvSpPr txBox="1">
              <a:spLocks/>
            </p:cNvSpPr>
            <p:nvPr/>
          </p:nvSpPr>
          <p:spPr>
            <a:xfrm>
              <a:off x="4552988" y="5119732"/>
              <a:ext cx="3240000" cy="5760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spcBef>
                  <a:spcPts val="600"/>
                </a:spcBef>
                <a:buNone/>
              </a:pPr>
              <a:r>
                <a:rPr lang="en-US" sz="2500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What is the story?</a:t>
              </a:r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xmlns="" id="{0C7E9AA7-C307-30C8-044B-F61F8EBBE838}"/>
                </a:ext>
              </a:extLst>
            </p:cNvPr>
            <p:cNvSpPr txBox="1">
              <a:spLocks/>
            </p:cNvSpPr>
            <p:nvPr/>
          </p:nvSpPr>
          <p:spPr>
            <a:xfrm>
              <a:off x="8140852" y="5119732"/>
              <a:ext cx="3240000" cy="5760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spcBef>
                  <a:spcPts val="600"/>
                </a:spcBef>
                <a:buNone/>
              </a:pPr>
              <a:r>
                <a:rPr lang="en-US" sz="2500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What is the story?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86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123029"/>
          </a:xfrm>
          <a:solidFill>
            <a:srgbClr val="BED730"/>
          </a:solidFill>
        </p:spPr>
        <p:txBody>
          <a:bodyPr>
            <a:noAutofit/>
          </a:bodyPr>
          <a:lstStyle/>
          <a:p>
            <a:pPr marL="365125" algn="l"/>
            <a:r>
              <a:rPr lang="en-US" sz="5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How to realize impact 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02400" y="1285335"/>
            <a:ext cx="6972300" cy="657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Ways to transport ideas</a:t>
            </a:r>
          </a:p>
        </p:txBody>
      </p: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609600" y="6553200"/>
            <a:ext cx="109800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cxnSpLocks/>
          </p:cNvCxnSpPr>
          <p:nvPr/>
        </p:nvCxnSpPr>
        <p:spPr>
          <a:xfrm>
            <a:off x="609600" y="6629400"/>
            <a:ext cx="1098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8D71159-E56C-AB41-7AAF-196C5748E814}"/>
              </a:ext>
            </a:extLst>
          </p:cNvPr>
          <p:cNvSpPr txBox="1"/>
          <p:nvPr/>
        </p:nvSpPr>
        <p:spPr>
          <a:xfrm>
            <a:off x="7578164" y="5476192"/>
            <a:ext cx="3997309" cy="9667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Many ways to transport ideas, some are faster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F4D12AD-ABF1-7E2A-51F2-089716716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350" y="1199227"/>
            <a:ext cx="3695250" cy="39600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280E7C32-9F02-62F1-E41B-EC23BDB3204C}"/>
              </a:ext>
            </a:extLst>
          </p:cNvPr>
          <p:cNvSpPr txBox="1">
            <a:spLocks/>
          </p:cNvSpPr>
          <p:nvPr/>
        </p:nvSpPr>
        <p:spPr>
          <a:xfrm>
            <a:off x="609600" y="1981202"/>
            <a:ext cx="7399050" cy="31780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Emphasis 1. Timely dissemination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Rapid submission of manuscripts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Rapid publication of submitted manuscripts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Emphasis 2. Amplifying impact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Social media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7D23A25-B509-AE40-D73A-1DD801E1CEBC}"/>
              </a:ext>
            </a:extLst>
          </p:cNvPr>
          <p:cNvSpPr txBox="1"/>
          <p:nvPr/>
        </p:nvSpPr>
        <p:spPr>
          <a:xfrm>
            <a:off x="609600" y="5476192"/>
            <a:ext cx="6858000" cy="9667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marL="220663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Rapid dissemination is needed for timely application of research</a:t>
            </a:r>
          </a:p>
        </p:txBody>
      </p:sp>
    </p:spTree>
    <p:extLst>
      <p:ext uri="{BB962C8B-B14F-4D97-AF65-F5344CB8AC3E}">
        <p14:creationId xmlns:p14="http://schemas.microsoft.com/office/powerpoint/2010/main" val="4753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123029"/>
          </a:xfrm>
          <a:solidFill>
            <a:srgbClr val="BED730"/>
          </a:solidFill>
        </p:spPr>
        <p:txBody>
          <a:bodyPr>
            <a:noAutofit/>
          </a:bodyPr>
          <a:lstStyle/>
          <a:p>
            <a:pPr marL="365125" algn="l"/>
            <a:r>
              <a:rPr lang="en-US" sz="5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Some hints for </a:t>
            </a:r>
            <a:r>
              <a:rPr lang="en-US" sz="55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writing</a:t>
            </a:r>
            <a:endParaRPr lang="en-US" sz="5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09600" y="1295399"/>
            <a:ext cx="10980000" cy="5105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sz="2800" dirty="0" smtClean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Schedule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specific times to write</a:t>
            </a:r>
          </a:p>
          <a:p>
            <a:pPr marL="914400" lvl="1" indent="-5143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Start with whatever part you find easiest</a:t>
            </a:r>
          </a:p>
          <a:p>
            <a:pPr marL="914400" lvl="1" indent="-5143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Set small targets (time, or words) and be consistent</a:t>
            </a:r>
          </a:p>
          <a:p>
            <a:pPr marL="914400" lvl="1" indent="-5143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Switch projects if you get bored or stuck</a:t>
            </a:r>
          </a:p>
          <a:p>
            <a:pPr marL="914400" lvl="1" indent="-5143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Don’t interrupt the writing to search for small details</a:t>
            </a:r>
          </a:p>
          <a:p>
            <a:pPr marL="914400" lvl="1" indent="-5143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Explore internal (peer) reviews </a:t>
            </a:r>
          </a:p>
          <a:p>
            <a:pPr marL="914400" lvl="1" indent="-5143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Know when to stop and submit </a:t>
            </a:r>
          </a:p>
          <a:p>
            <a:pPr marL="914400" lvl="1" indent="-5143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Avoid redundant publication</a:t>
            </a:r>
          </a:p>
        </p:txBody>
      </p: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609600" y="6553200"/>
            <a:ext cx="109800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cxnSpLocks/>
          </p:cNvCxnSpPr>
          <p:nvPr/>
        </p:nvCxnSpPr>
        <p:spPr>
          <a:xfrm>
            <a:off x="609600" y="6629400"/>
            <a:ext cx="1098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7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123029"/>
          </a:xfrm>
          <a:solidFill>
            <a:srgbClr val="BED730"/>
          </a:solidFill>
        </p:spPr>
        <p:txBody>
          <a:bodyPr>
            <a:noAutofit/>
          </a:bodyPr>
          <a:lstStyle/>
          <a:p>
            <a:pPr marL="365125" algn="l"/>
            <a:r>
              <a:rPr lang="en-US" sz="5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Some hints for writing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09600" y="1295399"/>
            <a:ext cx="10980000" cy="5105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 startAt="2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Select 2-3 journal early</a:t>
            </a:r>
          </a:p>
          <a:p>
            <a:pPr marL="914400" lvl="1" indent="-514350">
              <a:lnSpc>
                <a:spcPct val="12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Read guidelines before writing, when writing, before submission</a:t>
            </a:r>
          </a:p>
          <a:p>
            <a:pPr marL="914400" lvl="1" indent="-514350">
              <a:lnSpc>
                <a:spcPct val="12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Scout for fee-waiver or discount for OA publication.</a:t>
            </a:r>
          </a:p>
          <a:p>
            <a:pPr marL="914400" lvl="1" indent="-514350">
              <a:lnSpc>
                <a:spcPct val="12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Avoid questionable journals</a:t>
            </a:r>
          </a:p>
          <a:p>
            <a:pPr marL="914400" lvl="1" indent="-514350">
              <a:lnSpc>
                <a:spcPct val="12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Try publisher’s journal finder, suggester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 startAt="3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Collaboration and the power of synergies</a:t>
            </a:r>
          </a:p>
          <a:p>
            <a:pPr marL="914400" lvl="1" indent="-514350">
              <a:lnSpc>
                <a:spcPct val="12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Capitalize on corporate intelligence</a:t>
            </a:r>
          </a:p>
          <a:p>
            <a:pPr marL="914400" lvl="1" indent="-514350">
              <a:lnSpc>
                <a:spcPct val="12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Possibility for open access</a:t>
            </a:r>
          </a:p>
        </p:txBody>
      </p: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609600" y="6705600"/>
            <a:ext cx="109800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cxnSpLocks/>
          </p:cNvCxnSpPr>
          <p:nvPr/>
        </p:nvCxnSpPr>
        <p:spPr>
          <a:xfrm>
            <a:off x="609600" y="6781800"/>
            <a:ext cx="1098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69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123029"/>
          </a:xfrm>
          <a:solidFill>
            <a:srgbClr val="BED730"/>
          </a:solidFill>
        </p:spPr>
        <p:txBody>
          <a:bodyPr>
            <a:noAutofit/>
          </a:bodyPr>
          <a:lstStyle/>
          <a:p>
            <a:pPr marL="365125" algn="l"/>
            <a:r>
              <a:rPr lang="en-US" sz="5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Hints to continue writing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09600" y="1295399"/>
            <a:ext cx="7620000" cy="5105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5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Become a peer reviewer</a:t>
            </a:r>
          </a:p>
          <a:p>
            <a:pPr marL="801688" lvl="1" indent="-436563">
              <a:lnSpc>
                <a:spcPct val="11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Improves your research and writing</a:t>
            </a:r>
          </a:p>
          <a:p>
            <a:pPr marL="801688" lvl="1" indent="-436563">
              <a:lnSpc>
                <a:spcPct val="11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Broadens knowledge; you stay updated</a:t>
            </a:r>
          </a:p>
          <a:p>
            <a:pPr marL="801688" lvl="1" indent="-436563">
              <a:lnSpc>
                <a:spcPct val="11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Build new networks for collaborations</a:t>
            </a:r>
          </a:p>
          <a:p>
            <a:pPr marL="457200" indent="-457200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5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Consider systematic reviews  </a:t>
            </a:r>
          </a:p>
          <a:p>
            <a:pPr marL="801688" lvl="1" indent="-436563">
              <a:lnSpc>
                <a:spcPct val="11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Establish state of existing knowledge</a:t>
            </a:r>
          </a:p>
          <a:p>
            <a:pPr marL="801688" lvl="1" indent="-436563">
              <a:lnSpc>
                <a:spcPct val="11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Identify areas for further research </a:t>
            </a:r>
          </a:p>
          <a:p>
            <a:pPr marL="801688" lvl="1" indent="-436563">
              <a:lnSpc>
                <a:spcPct val="11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Boosts your authority, gets you cited</a:t>
            </a:r>
          </a:p>
        </p:txBody>
      </p: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609600" y="6553200"/>
            <a:ext cx="109800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cxnSpLocks/>
          </p:cNvCxnSpPr>
          <p:nvPr/>
        </p:nvCxnSpPr>
        <p:spPr>
          <a:xfrm>
            <a:off x="609600" y="6629400"/>
            <a:ext cx="1098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28552383-516E-7AF7-9D06-25D0BE261E6E}"/>
              </a:ext>
            </a:extLst>
          </p:cNvPr>
          <p:cNvSpPr txBox="1">
            <a:spLocks/>
          </p:cNvSpPr>
          <p:nvPr/>
        </p:nvSpPr>
        <p:spPr>
          <a:xfrm>
            <a:off x="8229600" y="1323514"/>
            <a:ext cx="3352800" cy="5105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25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Join a journal club</a:t>
            </a: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25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Attend write-shops</a:t>
            </a: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25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Attend conferences, seminars</a:t>
            </a: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25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Joint grant writing teams.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9F20961F-F36B-AC0F-F88D-C05513E2A3BF}"/>
              </a:ext>
            </a:extLst>
          </p:cNvPr>
          <p:cNvGrpSpPr/>
          <p:nvPr/>
        </p:nvGrpSpPr>
        <p:grpSpPr>
          <a:xfrm>
            <a:off x="609600" y="4267200"/>
            <a:ext cx="7620000" cy="1676400"/>
            <a:chOff x="-4800600" y="4724400"/>
            <a:chExt cx="7620000" cy="1676400"/>
          </a:xfrm>
        </p:grpSpPr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xmlns="" id="{52E75D93-48E9-9795-A68F-131A2EF68D70}"/>
                </a:ext>
              </a:extLst>
            </p:cNvPr>
            <p:cNvSpPr txBox="1">
              <a:spLocks/>
            </p:cNvSpPr>
            <p:nvPr/>
          </p:nvSpPr>
          <p:spPr>
            <a:xfrm>
              <a:off x="-4800600" y="5173095"/>
              <a:ext cx="3810000" cy="1216909"/>
            </a:xfrm>
            <a:prstGeom prst="rect">
              <a:avLst/>
            </a:prstGeom>
            <a:solidFill>
              <a:srgbClr val="BED730"/>
            </a:solidFill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66700" indent="-266700">
                <a:spcBef>
                  <a:spcPts val="600"/>
                </a:spcBef>
                <a:buFont typeface="Courier New" panose="02070309020205020404" pitchFamily="49" charset="0"/>
                <a:buChar char="o"/>
              </a:pPr>
              <a:r>
                <a:rPr lang="en-US" sz="1500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Advance knowledge in an area</a:t>
              </a:r>
            </a:p>
            <a:p>
              <a:pPr marL="266700" indent="-266700">
                <a:spcBef>
                  <a:spcPts val="600"/>
                </a:spcBef>
                <a:buFont typeface="Courier New" panose="02070309020205020404" pitchFamily="49" charset="0"/>
                <a:buChar char="o"/>
              </a:pPr>
              <a:r>
                <a:rPr lang="en-US" sz="1500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Establish the state-of-the art</a:t>
              </a:r>
            </a:p>
            <a:p>
              <a:pPr marL="266700" indent="-266700">
                <a:spcBef>
                  <a:spcPts val="600"/>
                </a:spcBef>
                <a:buFont typeface="Courier New" panose="02070309020205020404" pitchFamily="49" charset="0"/>
                <a:buChar char="o"/>
              </a:pPr>
              <a:r>
                <a:rPr lang="en-US" sz="1500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Identify areas for further research</a:t>
              </a:r>
            </a:p>
            <a:p>
              <a:pPr marL="266700" indent="-266700">
                <a:spcBef>
                  <a:spcPts val="600"/>
                </a:spcBef>
                <a:buFont typeface="Courier New" panose="02070309020205020404" pitchFamily="49" charset="0"/>
                <a:buChar char="o"/>
              </a:pPr>
              <a:r>
                <a:rPr lang="en-US" sz="1500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Identify flaws in scientific writing  </a:t>
              </a:r>
            </a:p>
          </p:txBody>
        </p:sp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xmlns="" id="{747B369B-DD12-7408-21CF-CBEADEF80697}"/>
                </a:ext>
              </a:extLst>
            </p:cNvPr>
            <p:cNvSpPr txBox="1">
              <a:spLocks/>
            </p:cNvSpPr>
            <p:nvPr/>
          </p:nvSpPr>
          <p:spPr>
            <a:xfrm>
              <a:off x="-990600" y="5173095"/>
              <a:ext cx="3810000" cy="1227705"/>
            </a:xfrm>
            <a:prstGeom prst="rect">
              <a:avLst/>
            </a:prstGeom>
            <a:solidFill>
              <a:srgbClr val="BED730"/>
            </a:solidFill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66700" indent="-266700">
                <a:spcBef>
                  <a:spcPts val="0"/>
                </a:spcBef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500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Provide evidence for practice and policy-making</a:t>
              </a:r>
            </a:p>
            <a:p>
              <a:pPr marL="266700" indent="-266700">
                <a:spcBef>
                  <a:spcPts val="0"/>
                </a:spcBef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500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Join a team of subject experts</a:t>
              </a:r>
            </a:p>
            <a:p>
              <a:pPr marL="266700" indent="-266700">
                <a:spcBef>
                  <a:spcPts val="0"/>
                </a:spcBef>
                <a:spcAft>
                  <a:spcPts val="600"/>
                </a:spcAft>
                <a:buFont typeface="Courier New" panose="02070309020205020404" pitchFamily="49" charset="0"/>
                <a:buChar char="o"/>
              </a:pPr>
              <a:r>
                <a:rPr lang="en-US" sz="1500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Boosts your authority, citations</a:t>
              </a:r>
            </a:p>
          </p:txBody>
        </p:sp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xmlns="" id="{C9D483B5-442E-3BC3-269C-50C28CCBE131}"/>
                </a:ext>
              </a:extLst>
            </p:cNvPr>
            <p:cNvSpPr txBox="1">
              <a:spLocks/>
            </p:cNvSpPr>
            <p:nvPr/>
          </p:nvSpPr>
          <p:spPr>
            <a:xfrm>
              <a:off x="-4800600" y="4724400"/>
              <a:ext cx="7619999" cy="454994"/>
            </a:xfrm>
            <a:prstGeom prst="rect">
              <a:avLst/>
            </a:prstGeom>
            <a:solidFill>
              <a:srgbClr val="BED730"/>
            </a:solidFill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600"/>
                </a:spcBef>
                <a:buNone/>
              </a:pPr>
              <a:r>
                <a:rPr lang="en-US" sz="1600" b="1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Systematic reviews and meta-analyses have several benefits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264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123029"/>
          </a:xfrm>
          <a:solidFill>
            <a:srgbClr val="BED730"/>
          </a:solidFill>
        </p:spPr>
        <p:txBody>
          <a:bodyPr>
            <a:noAutofit/>
          </a:bodyPr>
          <a:lstStyle/>
          <a:p>
            <a:pPr marL="365125" algn="l"/>
            <a:r>
              <a:rPr lang="en-US" sz="5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Grant writing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09600" y="1295399"/>
            <a:ext cx="10980000" cy="5181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Explore the types of projects funded in your area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Create a list of call for proposals, their focus, dates</a:t>
            </a:r>
          </a:p>
          <a:p>
            <a:pPr marL="914400" lvl="1" indent="-5143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Allows an early start; contact with program official 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Build a database of concept notes, or ideas for research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Reach out to collaborators with your ideas</a:t>
            </a:r>
          </a:p>
          <a:p>
            <a:pPr marL="857250" lvl="1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Look for complementary skills and expertise</a:t>
            </a:r>
          </a:p>
          <a:p>
            <a:pPr marL="857250" lvl="1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Join experienced researchers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Review the funder’s requirements and guidelines to align your project to the priorities of the funder</a:t>
            </a:r>
          </a:p>
        </p:txBody>
      </p: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609600" y="6553200"/>
            <a:ext cx="109800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cxnSpLocks/>
          </p:cNvCxnSpPr>
          <p:nvPr/>
        </p:nvCxnSpPr>
        <p:spPr>
          <a:xfrm>
            <a:off x="609600" y="6629400"/>
            <a:ext cx="1098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729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123029"/>
          </a:xfrm>
          <a:solidFill>
            <a:srgbClr val="BED730"/>
          </a:solidFill>
        </p:spPr>
        <p:txBody>
          <a:bodyPr>
            <a:noAutofit/>
          </a:bodyPr>
          <a:lstStyle/>
          <a:p>
            <a:pPr marL="365125" algn="l"/>
            <a:r>
              <a:rPr lang="en-US" sz="5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09600" y="1295399"/>
            <a:ext cx="11201400" cy="4876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Contact details</a:t>
            </a:r>
          </a:p>
          <a:p>
            <a:pPr marL="0" lvl="1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Directorate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of research and Innovations,</a:t>
            </a:r>
          </a:p>
          <a:p>
            <a:pPr marL="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Jomo Kenyatta University of Agriculture and Technology</a:t>
            </a:r>
          </a:p>
          <a:p>
            <a:pPr marL="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Nairobi, Kenya</a:t>
            </a:r>
          </a:p>
          <a:p>
            <a:pPr marL="0" lvl="1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Email:	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kshem@jkuat.ac.ke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Research:	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4"/>
              </a:rPr>
              <a:t>Director.research@jkuat.ac.ke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609600" y="6553200"/>
            <a:ext cx="109800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cxnSpLocks/>
          </p:cNvCxnSpPr>
          <p:nvPr/>
        </p:nvCxnSpPr>
        <p:spPr>
          <a:xfrm>
            <a:off x="609600" y="6629400"/>
            <a:ext cx="1098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82F43C5-C6E3-772B-F999-7FA60871201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618" t="2673" r="18748" b="11419"/>
          <a:stretch/>
        </p:blipFill>
        <p:spPr>
          <a:xfrm>
            <a:off x="6895342" y="3581400"/>
            <a:ext cx="4687058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1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10293</TotalTime>
  <Words>481</Words>
  <Application>Microsoft Office PowerPoint</Application>
  <PresentationFormat>Widescreen</PresentationFormat>
  <Paragraphs>102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Courier New</vt:lpstr>
      <vt:lpstr>Times New Roman</vt:lpstr>
      <vt:lpstr>Trebuchet MS</vt:lpstr>
      <vt:lpstr>Vani</vt:lpstr>
      <vt:lpstr>Verdana</vt:lpstr>
      <vt:lpstr>Office Theme</vt:lpstr>
      <vt:lpstr>Communicating research results</vt:lpstr>
      <vt:lpstr>Scientific communication </vt:lpstr>
      <vt:lpstr>How to realize impact </vt:lpstr>
      <vt:lpstr>How to realize impact </vt:lpstr>
      <vt:lpstr>Some hints for writing</vt:lpstr>
      <vt:lpstr>Some hints for writing</vt:lpstr>
      <vt:lpstr>Hints to continue writing</vt:lpstr>
      <vt:lpstr>Grant writing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Shem Kuyah</dc:creator>
  <cp:lastModifiedBy>user</cp:lastModifiedBy>
  <cp:revision>451</cp:revision>
  <dcterms:created xsi:type="dcterms:W3CDTF">2017-09-08T11:08:36Z</dcterms:created>
  <dcterms:modified xsi:type="dcterms:W3CDTF">2024-07-30T12:30:59Z</dcterms:modified>
</cp:coreProperties>
</file>